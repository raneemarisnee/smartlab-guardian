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unito" charset="1" panose="00000000000000000000"/>
      <p:regular r:id="rId19"/>
    </p:embeddedFont>
    <p:embeddedFont>
      <p:font typeface="Agrandir Wide Bold" charset="1" panose="00000805000000000000"/>
      <p:regular r:id="rId20"/>
    </p:embeddedFont>
    <p:embeddedFont>
      <p:font typeface="Nunito Bold" charset="1" panose="00000000000000000000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medium.com/@CHICHEEE/build-a-simple-file-transfer-system-using-python-network-programming-project-c9962cf238c0" TargetMode="External" Type="http://schemas.openxmlformats.org/officeDocument/2006/relationships/hyperlink"/><Relationship Id="rId11" Target="https://classroomspy.com/%202.%20Python%20socket%20network%20programming%20-%20Yasoob%20Khalid" TargetMode="External" Type="http://schemas.openxmlformats.org/officeDocument/2006/relationships/hyperlink"/><Relationship Id="rId12" Target="https://classroomspy.com/%202.%20Python%20socket%20network%20programming%20-%20Yasoob%20Khalid" TargetMode="External" Type="http://schemas.openxmlformats.org/officeDocument/2006/relationships/hyperlink"/><Relationship Id="rId13" Target="https://fullscale.io/blog/how-to-choose-tech-stack/" TargetMode="External" Type="http://schemas.openxmlformats.org/officeDocument/2006/relationships/hyperlink"/><Relationship Id="rId14" Target="https://classroomspy.com/%202.%20Python%20socket%20network%20programming%20-%20Yasoob%20Khalid" TargetMode="External" Type="http://schemas.openxmlformats.org/officeDocument/2006/relationships/hyperlink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https://github.com/RaneemaRisnee/SmartLab-Guardian" TargetMode="External" Type="http://schemas.openxmlformats.org/officeDocument/2006/relationships/hyperlink"/><Relationship Id="rId5" Target="https://classroomspy.com/%202.%20Python%20socket%20network%20programming%20-%20Yasoob%20Khalid" TargetMode="External" Type="http://schemas.openxmlformats.org/officeDocument/2006/relationships/hyperlink"/><Relationship Id="rId6" Target="https://classroomspy.com/%202.%20Python%20socket%20network%20programming%20-%20Yasoob%20Khalid" TargetMode="External" Type="http://schemas.openxmlformats.org/officeDocument/2006/relationships/hyperlink"/><Relationship Id="rId7" Target="https://yasoob.me/2013/08/06/python-socket-network-programming/" TargetMode="External" Type="http://schemas.openxmlformats.org/officeDocument/2006/relationships/hyperlink"/><Relationship Id="rId8" Target="https://classroomspy.com/%202.%20Python%20socket%20network%20programming%20-%20Yasoob%20Khalid" TargetMode="External" Type="http://schemas.openxmlformats.org/officeDocument/2006/relationships/hyperlink"/><Relationship Id="rId9" Target="https://classroomspy.com/%202.%20Python%20socket%20network%20programming%20-%20Yasoob%20Khalid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  <a:r>
                <a:rPr lang="en-US" sz="1922" spc="105">
                  <a:solidFill>
                    <a:srgbClr val="FFFFFF"/>
                  </a:solidFill>
                  <a:latin typeface="Nunito"/>
                  <a:ea typeface="Nunito"/>
                  <a:cs typeface="Nunito"/>
                  <a:sym typeface="Nunito"/>
                </a:rPr>
                <a:t> CVV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86317"/>
            <a:ext cx="15875700" cy="163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2"/>
              </a:lnSpc>
            </a:pPr>
            <a:r>
              <a:rPr lang="en-US" sz="9344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SMARTLAB GUARDIAN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219619"/>
            <a:ext cx="12243244" cy="838151"/>
            <a:chOff x="0" y="0"/>
            <a:chExt cx="3224558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24558" cy="220747"/>
            </a:xfrm>
            <a:custGeom>
              <a:avLst/>
              <a:gdLst/>
              <a:ahLst/>
              <a:cxnLst/>
              <a:rect r="r" b="b" t="t" l="l"/>
              <a:pathLst>
                <a:path h="220747" w="3224558">
                  <a:moveTo>
                    <a:pt x="63234" y="0"/>
                  </a:moveTo>
                  <a:lnTo>
                    <a:pt x="3161324" y="0"/>
                  </a:lnTo>
                  <a:cubicBezTo>
                    <a:pt x="3196247" y="0"/>
                    <a:pt x="3224558" y="28311"/>
                    <a:pt x="3224558" y="63234"/>
                  </a:cubicBezTo>
                  <a:lnTo>
                    <a:pt x="3224558" y="157513"/>
                  </a:lnTo>
                  <a:cubicBezTo>
                    <a:pt x="3224558" y="174284"/>
                    <a:pt x="3217896" y="190368"/>
                    <a:pt x="3206037" y="202227"/>
                  </a:cubicBezTo>
                  <a:cubicBezTo>
                    <a:pt x="3194178" y="214085"/>
                    <a:pt x="3178095" y="220747"/>
                    <a:pt x="3161324" y="220747"/>
                  </a:cubicBezTo>
                  <a:lnTo>
                    <a:pt x="63234" y="220747"/>
                  </a:lnTo>
                  <a:cubicBezTo>
                    <a:pt x="28311" y="220747"/>
                    <a:pt x="0" y="192437"/>
                    <a:pt x="0" y="157513"/>
                  </a:cubicBezTo>
                  <a:lnTo>
                    <a:pt x="0" y="63234"/>
                  </a:lnTo>
                  <a:cubicBezTo>
                    <a:pt x="0" y="28311"/>
                    <a:pt x="28311" y="0"/>
                    <a:pt x="6323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224558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3326461"/>
            <a:ext cx="12067019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smart Computer Laboratory Management &amp; Monitoring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2948357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Group 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7320" y="4817160"/>
            <a:ext cx="3156119" cy="113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Group members</a:t>
            </a:r>
          </a:p>
          <a:p>
            <a:pPr algn="l">
              <a:lnSpc>
                <a:spcPts val="45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57320" y="5867519"/>
            <a:ext cx="3156119" cy="170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2022/ICT/36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2022/ICT/52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2022/ICT/126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7320" y="7549610"/>
            <a:ext cx="3156119" cy="170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2022/ICT/135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2022/ICT/141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2022/ICT/128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2094" y="5076825"/>
            <a:ext cx="2429192" cy="55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Supervisor: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5061" y="5086723"/>
            <a:ext cx="4319339" cy="1127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Ms. S. Bramyah Lecturer(Probationary)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23636"/>
            <a:ext cx="9384626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043" y="4972598"/>
            <a:ext cx="4446588" cy="32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Students sometimes log in using a friend's account. It's hard to know who really did the work.</a:t>
            </a:r>
          </a:p>
          <a:p>
            <a:pPr algn="l">
              <a:lnSpc>
                <a:spcPts val="5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806320" y="4972598"/>
            <a:ext cx="4446588" cy="260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Assigning students to computers by hand can take 45 minutes or more.</a:t>
            </a:r>
          </a:p>
          <a:p>
            <a:pPr algn="l">
              <a:lnSpc>
                <a:spcPts val="5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586283" y="4972598"/>
            <a:ext cx="3867444" cy="393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Keyboards, mice, and monitors can go missing without anyone noticing right away.</a:t>
            </a:r>
          </a:p>
          <a:p>
            <a:pPr algn="l">
              <a:lnSpc>
                <a:spcPts val="52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31043" y="4319536"/>
            <a:ext cx="4446588" cy="140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40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Fake logins</a:t>
            </a:r>
          </a:p>
          <a:p>
            <a:pPr algn="l">
              <a:lnSpc>
                <a:spcPts val="564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806320" y="4319536"/>
            <a:ext cx="4446588" cy="140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40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Slow exam setup</a:t>
            </a:r>
          </a:p>
          <a:p>
            <a:pPr algn="l">
              <a:lnSpc>
                <a:spcPts val="564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86283" y="4319536"/>
            <a:ext cx="4446588" cy="1402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40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Missing hardware</a:t>
            </a:r>
          </a:p>
          <a:p>
            <a:pPr algn="l">
              <a:lnSpc>
                <a:spcPts val="564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003639"/>
            <a:ext cx="15616778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3038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</a:t>
            </a:r>
            <a:r>
              <a:rPr lang="en-US" b="true" sz="5199">
                <a:solidFill>
                  <a:srgbClr val="30387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our university labs need a smarter system</a:t>
            </a:r>
          </a:p>
          <a:p>
            <a:pPr algn="l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4050" y="1028700"/>
            <a:ext cx="6760892" cy="8229600"/>
            <a:chOff x="0" y="0"/>
            <a:chExt cx="1047439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439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47439">
                  <a:moveTo>
                    <a:pt x="0" y="0"/>
                  </a:moveTo>
                  <a:lnTo>
                    <a:pt x="1047439" y="0"/>
                  </a:lnTo>
                  <a:lnTo>
                    <a:pt x="1047439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0" t="-11653" r="0" b="-1165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487846"/>
            <a:ext cx="8662407" cy="3524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75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BACKGROUND &amp;  EXISTING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97654"/>
            <a:ext cx="7957508" cy="193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•Our university uses Classroom Spy to view student screens during practicals.</a:t>
            </a:r>
          </a:p>
          <a:p>
            <a:pPr algn="just">
              <a:lnSpc>
                <a:spcPts val="52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30548" y="5581935"/>
            <a:ext cx="8115300" cy="193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•Exam computer assignment is still done by hand, using printed sheets.</a:t>
            </a:r>
          </a:p>
          <a:p>
            <a:pPr algn="just">
              <a:lnSpc>
                <a:spcPts val="52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30548" y="7060977"/>
            <a:ext cx="8113452" cy="260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•A disconnected device doesn't raise any alert on its own.</a:t>
            </a:r>
          </a:p>
          <a:p>
            <a:pPr algn="just">
              <a:lnSpc>
                <a:spcPts val="5279"/>
              </a:lnSpc>
            </a:pPr>
          </a:p>
          <a:p>
            <a:pPr algn="just">
              <a:lnSpc>
                <a:spcPts val="52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30548" y="8394477"/>
            <a:ext cx="8113452" cy="1272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79"/>
              </a:lnSpc>
            </a:pPr>
            <a:r>
              <a:rPr lang="en-US" sz="29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•Login activity, usage, and hardware records live in different places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27708" y="741058"/>
            <a:ext cx="12724909" cy="364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WITH SMARTLAB GUARDIAN</a:t>
            </a:r>
          </a:p>
          <a:p>
            <a:pPr algn="l">
              <a:lnSpc>
                <a:spcPts val="897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71780" y="3217151"/>
            <a:ext cx="5893866" cy="1926349"/>
            <a:chOff x="0" y="0"/>
            <a:chExt cx="1552294" cy="507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2294" cy="507351"/>
            </a:xfrm>
            <a:custGeom>
              <a:avLst/>
              <a:gdLst/>
              <a:ahLst/>
              <a:cxnLst/>
              <a:rect r="r" b="b" t="t" l="l"/>
              <a:pathLst>
                <a:path h="507351" w="1552294">
                  <a:moveTo>
                    <a:pt x="131356" y="0"/>
                  </a:moveTo>
                  <a:lnTo>
                    <a:pt x="1420938" y="0"/>
                  </a:lnTo>
                  <a:cubicBezTo>
                    <a:pt x="1455776" y="0"/>
                    <a:pt x="1489187" y="13839"/>
                    <a:pt x="1513821" y="38473"/>
                  </a:cubicBezTo>
                  <a:cubicBezTo>
                    <a:pt x="1538455" y="63107"/>
                    <a:pt x="1552294" y="96518"/>
                    <a:pt x="1552294" y="131356"/>
                  </a:cubicBezTo>
                  <a:lnTo>
                    <a:pt x="1552294" y="375996"/>
                  </a:lnTo>
                  <a:cubicBezTo>
                    <a:pt x="1552294" y="410833"/>
                    <a:pt x="1538455" y="444244"/>
                    <a:pt x="1513821" y="468878"/>
                  </a:cubicBezTo>
                  <a:cubicBezTo>
                    <a:pt x="1489187" y="493512"/>
                    <a:pt x="1455776" y="507351"/>
                    <a:pt x="1420938" y="507351"/>
                  </a:cubicBezTo>
                  <a:lnTo>
                    <a:pt x="131356" y="507351"/>
                  </a:lnTo>
                  <a:cubicBezTo>
                    <a:pt x="96518" y="507351"/>
                    <a:pt x="63107" y="493512"/>
                    <a:pt x="38473" y="468878"/>
                  </a:cubicBezTo>
                  <a:cubicBezTo>
                    <a:pt x="13839" y="444244"/>
                    <a:pt x="0" y="410833"/>
                    <a:pt x="0" y="375996"/>
                  </a:cubicBezTo>
                  <a:lnTo>
                    <a:pt x="0" y="131356"/>
                  </a:lnTo>
                  <a:cubicBezTo>
                    <a:pt x="0" y="96518"/>
                    <a:pt x="13839" y="63107"/>
                    <a:pt x="38473" y="38473"/>
                  </a:cubicBezTo>
                  <a:cubicBezTo>
                    <a:pt x="63107" y="13839"/>
                    <a:pt x="96518" y="0"/>
                    <a:pt x="13135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552294" cy="60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85620" y="3323993"/>
            <a:ext cx="5053319" cy="22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Compares login details with real activity to catch identity misuse.</a:t>
            </a:r>
          </a:p>
          <a:p>
            <a:pPr algn="l">
              <a:lnSpc>
                <a:spcPts val="4522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771780" y="5374083"/>
            <a:ext cx="5893866" cy="1926349"/>
            <a:chOff x="0" y="0"/>
            <a:chExt cx="1552294" cy="5073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2294" cy="507351"/>
            </a:xfrm>
            <a:custGeom>
              <a:avLst/>
              <a:gdLst/>
              <a:ahLst/>
              <a:cxnLst/>
              <a:rect r="r" b="b" t="t" l="l"/>
              <a:pathLst>
                <a:path h="507351" w="1552294">
                  <a:moveTo>
                    <a:pt x="131356" y="0"/>
                  </a:moveTo>
                  <a:lnTo>
                    <a:pt x="1420938" y="0"/>
                  </a:lnTo>
                  <a:cubicBezTo>
                    <a:pt x="1455776" y="0"/>
                    <a:pt x="1489187" y="13839"/>
                    <a:pt x="1513821" y="38473"/>
                  </a:cubicBezTo>
                  <a:cubicBezTo>
                    <a:pt x="1538455" y="63107"/>
                    <a:pt x="1552294" y="96518"/>
                    <a:pt x="1552294" y="131356"/>
                  </a:cubicBezTo>
                  <a:lnTo>
                    <a:pt x="1552294" y="375996"/>
                  </a:lnTo>
                  <a:cubicBezTo>
                    <a:pt x="1552294" y="410833"/>
                    <a:pt x="1538455" y="444244"/>
                    <a:pt x="1513821" y="468878"/>
                  </a:cubicBezTo>
                  <a:cubicBezTo>
                    <a:pt x="1489187" y="493512"/>
                    <a:pt x="1455776" y="507351"/>
                    <a:pt x="1420938" y="507351"/>
                  </a:cubicBezTo>
                  <a:lnTo>
                    <a:pt x="131356" y="507351"/>
                  </a:lnTo>
                  <a:cubicBezTo>
                    <a:pt x="96518" y="507351"/>
                    <a:pt x="63107" y="493512"/>
                    <a:pt x="38473" y="468878"/>
                  </a:cubicBezTo>
                  <a:cubicBezTo>
                    <a:pt x="13839" y="444244"/>
                    <a:pt x="0" y="410833"/>
                    <a:pt x="0" y="375996"/>
                  </a:cubicBezTo>
                  <a:lnTo>
                    <a:pt x="0" y="131356"/>
                  </a:lnTo>
                  <a:cubicBezTo>
                    <a:pt x="0" y="96518"/>
                    <a:pt x="13839" y="63107"/>
                    <a:pt x="38473" y="38473"/>
                  </a:cubicBezTo>
                  <a:cubicBezTo>
                    <a:pt x="63107" y="13839"/>
                    <a:pt x="96518" y="0"/>
                    <a:pt x="13135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552294" cy="60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85620" y="5480925"/>
            <a:ext cx="5053319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Imports an Excel sheet and auto-assigns students to computers in minutes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71780" y="7529032"/>
            <a:ext cx="5893866" cy="1926349"/>
            <a:chOff x="0" y="0"/>
            <a:chExt cx="1552294" cy="507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2294" cy="507351"/>
            </a:xfrm>
            <a:custGeom>
              <a:avLst/>
              <a:gdLst/>
              <a:ahLst/>
              <a:cxnLst/>
              <a:rect r="r" b="b" t="t" l="l"/>
              <a:pathLst>
                <a:path h="507351" w="1552294">
                  <a:moveTo>
                    <a:pt x="131356" y="0"/>
                  </a:moveTo>
                  <a:lnTo>
                    <a:pt x="1420938" y="0"/>
                  </a:lnTo>
                  <a:cubicBezTo>
                    <a:pt x="1455776" y="0"/>
                    <a:pt x="1489187" y="13839"/>
                    <a:pt x="1513821" y="38473"/>
                  </a:cubicBezTo>
                  <a:cubicBezTo>
                    <a:pt x="1538455" y="63107"/>
                    <a:pt x="1552294" y="96518"/>
                    <a:pt x="1552294" y="131356"/>
                  </a:cubicBezTo>
                  <a:lnTo>
                    <a:pt x="1552294" y="375996"/>
                  </a:lnTo>
                  <a:cubicBezTo>
                    <a:pt x="1552294" y="410833"/>
                    <a:pt x="1538455" y="444244"/>
                    <a:pt x="1513821" y="468878"/>
                  </a:cubicBezTo>
                  <a:cubicBezTo>
                    <a:pt x="1489187" y="493512"/>
                    <a:pt x="1455776" y="507351"/>
                    <a:pt x="1420938" y="507351"/>
                  </a:cubicBezTo>
                  <a:lnTo>
                    <a:pt x="131356" y="507351"/>
                  </a:lnTo>
                  <a:cubicBezTo>
                    <a:pt x="96518" y="507351"/>
                    <a:pt x="63107" y="493512"/>
                    <a:pt x="38473" y="468878"/>
                  </a:cubicBezTo>
                  <a:cubicBezTo>
                    <a:pt x="13839" y="444244"/>
                    <a:pt x="0" y="410833"/>
                    <a:pt x="0" y="375996"/>
                  </a:cubicBezTo>
                  <a:lnTo>
                    <a:pt x="0" y="131356"/>
                  </a:lnTo>
                  <a:cubicBezTo>
                    <a:pt x="0" y="96518"/>
                    <a:pt x="13839" y="63107"/>
                    <a:pt x="38473" y="38473"/>
                  </a:cubicBezTo>
                  <a:cubicBezTo>
                    <a:pt x="63107" y="13839"/>
                    <a:pt x="96518" y="0"/>
                    <a:pt x="131356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552294" cy="60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5620" y="7633807"/>
            <a:ext cx="5053319" cy="22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Keeps one central record for every keyboard, mouse, monitor, and cable.</a:t>
            </a:r>
          </a:p>
          <a:p>
            <a:pPr algn="l">
              <a:lnSpc>
                <a:spcPts val="4522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7181769" y="3217151"/>
            <a:ext cx="5959950" cy="1926349"/>
            <a:chOff x="0" y="0"/>
            <a:chExt cx="1569699" cy="507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69699" cy="507351"/>
            </a:xfrm>
            <a:custGeom>
              <a:avLst/>
              <a:gdLst/>
              <a:ahLst/>
              <a:cxnLst/>
              <a:rect r="r" b="b" t="t" l="l"/>
              <a:pathLst>
                <a:path h="507351" w="1569699">
                  <a:moveTo>
                    <a:pt x="129899" y="0"/>
                  </a:moveTo>
                  <a:lnTo>
                    <a:pt x="1439800" y="0"/>
                  </a:lnTo>
                  <a:cubicBezTo>
                    <a:pt x="1474251" y="0"/>
                    <a:pt x="1507291" y="13686"/>
                    <a:pt x="1531652" y="38047"/>
                  </a:cubicBezTo>
                  <a:cubicBezTo>
                    <a:pt x="1556013" y="62407"/>
                    <a:pt x="1569699" y="95448"/>
                    <a:pt x="1569699" y="129899"/>
                  </a:cubicBezTo>
                  <a:lnTo>
                    <a:pt x="1569699" y="377452"/>
                  </a:lnTo>
                  <a:cubicBezTo>
                    <a:pt x="1569699" y="411903"/>
                    <a:pt x="1556013" y="444944"/>
                    <a:pt x="1531652" y="469304"/>
                  </a:cubicBezTo>
                  <a:cubicBezTo>
                    <a:pt x="1507291" y="493665"/>
                    <a:pt x="1474251" y="507351"/>
                    <a:pt x="1439800" y="507351"/>
                  </a:cubicBezTo>
                  <a:lnTo>
                    <a:pt x="129899" y="507351"/>
                  </a:lnTo>
                  <a:cubicBezTo>
                    <a:pt x="95448" y="507351"/>
                    <a:pt x="62407" y="493665"/>
                    <a:pt x="38047" y="469304"/>
                  </a:cubicBezTo>
                  <a:cubicBezTo>
                    <a:pt x="13686" y="444944"/>
                    <a:pt x="0" y="411903"/>
                    <a:pt x="0" y="377452"/>
                  </a:cubicBezTo>
                  <a:lnTo>
                    <a:pt x="0" y="129899"/>
                  </a:lnTo>
                  <a:cubicBezTo>
                    <a:pt x="0" y="95448"/>
                    <a:pt x="13686" y="62407"/>
                    <a:pt x="38047" y="38047"/>
                  </a:cubicBezTo>
                  <a:cubicBezTo>
                    <a:pt x="62407" y="13686"/>
                    <a:pt x="95448" y="0"/>
                    <a:pt x="129899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1569699" cy="60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088400" y="3304673"/>
            <a:ext cx="5053319" cy="22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Sends an instant alert the moment a device is removed.</a:t>
            </a:r>
          </a:p>
          <a:p>
            <a:pPr algn="l">
              <a:lnSpc>
                <a:spcPts val="4522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7181769" y="5374083"/>
            <a:ext cx="5959950" cy="1926349"/>
            <a:chOff x="0" y="0"/>
            <a:chExt cx="1569699" cy="5073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69699" cy="507351"/>
            </a:xfrm>
            <a:custGeom>
              <a:avLst/>
              <a:gdLst/>
              <a:ahLst/>
              <a:cxnLst/>
              <a:rect r="r" b="b" t="t" l="l"/>
              <a:pathLst>
                <a:path h="507351" w="1569699">
                  <a:moveTo>
                    <a:pt x="129899" y="0"/>
                  </a:moveTo>
                  <a:lnTo>
                    <a:pt x="1439800" y="0"/>
                  </a:lnTo>
                  <a:cubicBezTo>
                    <a:pt x="1474251" y="0"/>
                    <a:pt x="1507291" y="13686"/>
                    <a:pt x="1531652" y="38047"/>
                  </a:cubicBezTo>
                  <a:cubicBezTo>
                    <a:pt x="1556013" y="62407"/>
                    <a:pt x="1569699" y="95448"/>
                    <a:pt x="1569699" y="129899"/>
                  </a:cubicBezTo>
                  <a:lnTo>
                    <a:pt x="1569699" y="377452"/>
                  </a:lnTo>
                  <a:cubicBezTo>
                    <a:pt x="1569699" y="411903"/>
                    <a:pt x="1556013" y="444944"/>
                    <a:pt x="1531652" y="469304"/>
                  </a:cubicBezTo>
                  <a:cubicBezTo>
                    <a:pt x="1507291" y="493665"/>
                    <a:pt x="1474251" y="507351"/>
                    <a:pt x="1439800" y="507351"/>
                  </a:cubicBezTo>
                  <a:lnTo>
                    <a:pt x="129899" y="507351"/>
                  </a:lnTo>
                  <a:cubicBezTo>
                    <a:pt x="95448" y="507351"/>
                    <a:pt x="62407" y="493665"/>
                    <a:pt x="38047" y="469304"/>
                  </a:cubicBezTo>
                  <a:cubicBezTo>
                    <a:pt x="13686" y="444944"/>
                    <a:pt x="0" y="411903"/>
                    <a:pt x="0" y="377452"/>
                  </a:cubicBezTo>
                  <a:lnTo>
                    <a:pt x="0" y="129899"/>
                  </a:lnTo>
                  <a:cubicBezTo>
                    <a:pt x="0" y="95448"/>
                    <a:pt x="13686" y="62407"/>
                    <a:pt x="38047" y="38047"/>
                  </a:cubicBezTo>
                  <a:cubicBezTo>
                    <a:pt x="62407" y="13686"/>
                    <a:pt x="95448" y="0"/>
                    <a:pt x="129899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569699" cy="602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088400" y="5480925"/>
            <a:ext cx="5604022" cy="227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Puts logins, usage, and hardware in a single dashboard.</a:t>
            </a:r>
          </a:p>
          <a:p>
            <a:pPr algn="l">
              <a:lnSpc>
                <a:spcPts val="452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4364" y="3409201"/>
            <a:ext cx="4738207" cy="2036826"/>
            <a:chOff x="0" y="0"/>
            <a:chExt cx="974940" cy="419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4940" cy="419100"/>
            </a:xfrm>
            <a:custGeom>
              <a:avLst/>
              <a:gdLst/>
              <a:ahLst/>
              <a:cxnLst/>
              <a:rect r="r" b="b" t="t" l="l"/>
              <a:pathLst>
                <a:path h="419100" w="974940">
                  <a:moveTo>
                    <a:pt x="35742" y="0"/>
                  </a:moveTo>
                  <a:lnTo>
                    <a:pt x="939197" y="0"/>
                  </a:lnTo>
                  <a:cubicBezTo>
                    <a:pt x="948677" y="0"/>
                    <a:pt x="957768" y="3766"/>
                    <a:pt x="964471" y="10469"/>
                  </a:cubicBezTo>
                  <a:cubicBezTo>
                    <a:pt x="971174" y="17172"/>
                    <a:pt x="974940" y="26263"/>
                    <a:pt x="974940" y="35742"/>
                  </a:cubicBezTo>
                  <a:lnTo>
                    <a:pt x="974940" y="383358"/>
                  </a:lnTo>
                  <a:cubicBezTo>
                    <a:pt x="974940" y="403098"/>
                    <a:pt x="958937" y="419100"/>
                    <a:pt x="939197" y="419100"/>
                  </a:cubicBezTo>
                  <a:lnTo>
                    <a:pt x="35742" y="419100"/>
                  </a:lnTo>
                  <a:cubicBezTo>
                    <a:pt x="26263" y="419100"/>
                    <a:pt x="17172" y="415334"/>
                    <a:pt x="10469" y="408631"/>
                  </a:cubicBezTo>
                  <a:cubicBezTo>
                    <a:pt x="3766" y="401928"/>
                    <a:pt x="0" y="392837"/>
                    <a:pt x="0" y="383358"/>
                  </a:cubicBezTo>
                  <a:lnTo>
                    <a:pt x="0" y="35742"/>
                  </a:lnTo>
                  <a:cubicBezTo>
                    <a:pt x="0" y="26263"/>
                    <a:pt x="3766" y="17172"/>
                    <a:pt x="10469" y="10469"/>
                  </a:cubicBezTo>
                  <a:cubicBezTo>
                    <a:pt x="17172" y="3766"/>
                    <a:pt x="26263" y="0"/>
                    <a:pt x="3574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97494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01288"/>
            <a:ext cx="14062448" cy="241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9"/>
              </a:lnSpc>
            </a:pPr>
            <a:r>
              <a:rPr lang="en-US" sz="755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ROLES IN THE SYSTEM</a:t>
            </a:r>
          </a:p>
          <a:p>
            <a:pPr algn="l">
              <a:lnSpc>
                <a:spcPts val="860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068796" y="3409201"/>
            <a:ext cx="4738207" cy="2036826"/>
            <a:chOff x="0" y="0"/>
            <a:chExt cx="974940" cy="4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4940" cy="419100"/>
            </a:xfrm>
            <a:custGeom>
              <a:avLst/>
              <a:gdLst/>
              <a:ahLst/>
              <a:cxnLst/>
              <a:rect r="r" b="b" t="t" l="l"/>
              <a:pathLst>
                <a:path h="419100" w="974940">
                  <a:moveTo>
                    <a:pt x="35742" y="0"/>
                  </a:moveTo>
                  <a:lnTo>
                    <a:pt x="939197" y="0"/>
                  </a:lnTo>
                  <a:cubicBezTo>
                    <a:pt x="948677" y="0"/>
                    <a:pt x="957768" y="3766"/>
                    <a:pt x="964471" y="10469"/>
                  </a:cubicBezTo>
                  <a:cubicBezTo>
                    <a:pt x="971174" y="17172"/>
                    <a:pt x="974940" y="26263"/>
                    <a:pt x="974940" y="35742"/>
                  </a:cubicBezTo>
                  <a:lnTo>
                    <a:pt x="974940" y="383358"/>
                  </a:lnTo>
                  <a:cubicBezTo>
                    <a:pt x="974940" y="403098"/>
                    <a:pt x="958937" y="419100"/>
                    <a:pt x="939197" y="419100"/>
                  </a:cubicBezTo>
                  <a:lnTo>
                    <a:pt x="35742" y="419100"/>
                  </a:lnTo>
                  <a:cubicBezTo>
                    <a:pt x="26263" y="419100"/>
                    <a:pt x="17172" y="415334"/>
                    <a:pt x="10469" y="408631"/>
                  </a:cubicBezTo>
                  <a:cubicBezTo>
                    <a:pt x="3766" y="401928"/>
                    <a:pt x="0" y="392837"/>
                    <a:pt x="0" y="383358"/>
                  </a:cubicBezTo>
                  <a:lnTo>
                    <a:pt x="0" y="35742"/>
                  </a:lnTo>
                  <a:cubicBezTo>
                    <a:pt x="0" y="26263"/>
                    <a:pt x="3766" y="17172"/>
                    <a:pt x="10469" y="10469"/>
                  </a:cubicBezTo>
                  <a:cubicBezTo>
                    <a:pt x="17172" y="3766"/>
                    <a:pt x="26263" y="0"/>
                    <a:pt x="3574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7494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083228" y="3409201"/>
            <a:ext cx="4738207" cy="2036826"/>
            <a:chOff x="0" y="0"/>
            <a:chExt cx="97494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4940" cy="419100"/>
            </a:xfrm>
            <a:custGeom>
              <a:avLst/>
              <a:gdLst/>
              <a:ahLst/>
              <a:cxnLst/>
              <a:rect r="r" b="b" t="t" l="l"/>
              <a:pathLst>
                <a:path h="419100" w="974940">
                  <a:moveTo>
                    <a:pt x="35742" y="0"/>
                  </a:moveTo>
                  <a:lnTo>
                    <a:pt x="939197" y="0"/>
                  </a:lnTo>
                  <a:cubicBezTo>
                    <a:pt x="948677" y="0"/>
                    <a:pt x="957768" y="3766"/>
                    <a:pt x="964471" y="10469"/>
                  </a:cubicBezTo>
                  <a:cubicBezTo>
                    <a:pt x="971174" y="17172"/>
                    <a:pt x="974940" y="26263"/>
                    <a:pt x="974940" y="35742"/>
                  </a:cubicBezTo>
                  <a:lnTo>
                    <a:pt x="974940" y="383358"/>
                  </a:lnTo>
                  <a:cubicBezTo>
                    <a:pt x="974940" y="403098"/>
                    <a:pt x="958937" y="419100"/>
                    <a:pt x="939197" y="419100"/>
                  </a:cubicBezTo>
                  <a:lnTo>
                    <a:pt x="35742" y="419100"/>
                  </a:lnTo>
                  <a:cubicBezTo>
                    <a:pt x="26263" y="419100"/>
                    <a:pt x="17172" y="415334"/>
                    <a:pt x="10469" y="408631"/>
                  </a:cubicBezTo>
                  <a:cubicBezTo>
                    <a:pt x="3766" y="401928"/>
                    <a:pt x="0" y="392837"/>
                    <a:pt x="0" y="383358"/>
                  </a:cubicBezTo>
                  <a:lnTo>
                    <a:pt x="0" y="35742"/>
                  </a:lnTo>
                  <a:cubicBezTo>
                    <a:pt x="0" y="26263"/>
                    <a:pt x="3766" y="17172"/>
                    <a:pt x="10469" y="10469"/>
                  </a:cubicBezTo>
                  <a:cubicBezTo>
                    <a:pt x="17172" y="3766"/>
                    <a:pt x="26263" y="0"/>
                    <a:pt x="3574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7494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74589" y="2817296"/>
            <a:ext cx="1922037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Admin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05135" y="3833127"/>
            <a:ext cx="4763662" cy="216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Manages students database, hardware database, alerts, and reports.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345231" y="2838861"/>
            <a:ext cx="2230781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Student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194181" y="3811561"/>
            <a:ext cx="476366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Logs into the assigned lab computer for class or exams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7893" y="2838861"/>
            <a:ext cx="1922037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Examiner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357893" y="3833127"/>
            <a:ext cx="4763662" cy="161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Sets up exams and checks computer assignments.</a:t>
            </a:r>
          </a:p>
          <a:p>
            <a:pPr algn="l">
              <a:lnSpc>
                <a:spcPts val="4399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6597393"/>
            <a:ext cx="4738207" cy="2036826"/>
            <a:chOff x="0" y="0"/>
            <a:chExt cx="97494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4940" cy="419100"/>
            </a:xfrm>
            <a:custGeom>
              <a:avLst/>
              <a:gdLst/>
              <a:ahLst/>
              <a:cxnLst/>
              <a:rect r="r" b="b" t="t" l="l"/>
              <a:pathLst>
                <a:path h="419100" w="974940">
                  <a:moveTo>
                    <a:pt x="35742" y="0"/>
                  </a:moveTo>
                  <a:lnTo>
                    <a:pt x="939197" y="0"/>
                  </a:lnTo>
                  <a:cubicBezTo>
                    <a:pt x="948677" y="0"/>
                    <a:pt x="957768" y="3766"/>
                    <a:pt x="964471" y="10469"/>
                  </a:cubicBezTo>
                  <a:cubicBezTo>
                    <a:pt x="971174" y="17172"/>
                    <a:pt x="974940" y="26263"/>
                    <a:pt x="974940" y="35742"/>
                  </a:cubicBezTo>
                  <a:lnTo>
                    <a:pt x="974940" y="383358"/>
                  </a:lnTo>
                  <a:cubicBezTo>
                    <a:pt x="974940" y="403098"/>
                    <a:pt x="958937" y="419100"/>
                    <a:pt x="939197" y="419100"/>
                  </a:cubicBezTo>
                  <a:lnTo>
                    <a:pt x="35742" y="419100"/>
                  </a:lnTo>
                  <a:cubicBezTo>
                    <a:pt x="26263" y="419100"/>
                    <a:pt x="17172" y="415334"/>
                    <a:pt x="10469" y="408631"/>
                  </a:cubicBezTo>
                  <a:cubicBezTo>
                    <a:pt x="3766" y="401928"/>
                    <a:pt x="0" y="392837"/>
                    <a:pt x="0" y="383358"/>
                  </a:cubicBezTo>
                  <a:lnTo>
                    <a:pt x="0" y="35742"/>
                  </a:lnTo>
                  <a:cubicBezTo>
                    <a:pt x="0" y="26263"/>
                    <a:pt x="3766" y="17172"/>
                    <a:pt x="10469" y="10469"/>
                  </a:cubicBezTo>
                  <a:cubicBezTo>
                    <a:pt x="17172" y="3766"/>
                    <a:pt x="26263" y="0"/>
                    <a:pt x="3574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74940" cy="48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03365" y="6027052"/>
            <a:ext cx="1922037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Lecturer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3365" y="7021318"/>
            <a:ext cx="476366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Start session,End session and </a:t>
            </a:r>
          </a:p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view Attendance report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93586"/>
            <a:ext cx="10596097" cy="24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KEY FEATURES</a:t>
            </a:r>
          </a:p>
          <a:p>
            <a:pPr algn="l">
              <a:lnSpc>
                <a:spcPts val="897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97776"/>
            <a:ext cx="9615094" cy="401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1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•Checks logins against real computer activity</a:t>
            </a:r>
          </a:p>
          <a:p>
            <a:pPr algn="l">
              <a:lnSpc>
                <a:spcPts val="6461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•Imports Excel data to auto-assign exam seats</a:t>
            </a:r>
          </a:p>
          <a:p>
            <a:pPr algn="l">
              <a:lnSpc>
                <a:spcPts val="6461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•Tracks hardware condition, lo</a:t>
            </a: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cation, and status</a:t>
            </a:r>
          </a:p>
          <a:p>
            <a:pPr algn="l">
              <a:lnSpc>
                <a:spcPts val="6461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•Alerts admin the moment a device is removed</a:t>
            </a:r>
          </a:p>
          <a:p>
            <a:pPr algn="l">
              <a:lnSpc>
                <a:spcPts val="6461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98734" y="1028700"/>
            <a:ext cx="6698276" cy="8426417"/>
          </a:xfrm>
          <a:custGeom>
            <a:avLst/>
            <a:gdLst/>
            <a:ahLst/>
            <a:cxnLst/>
            <a:rect r="r" b="b" t="t" l="l"/>
            <a:pathLst>
              <a:path h="8426417" w="6698276">
                <a:moveTo>
                  <a:pt x="0" y="0"/>
                </a:moveTo>
                <a:lnTo>
                  <a:pt x="6698276" y="0"/>
                </a:lnTo>
                <a:lnTo>
                  <a:pt x="6698276" y="8426417"/>
                </a:lnTo>
                <a:lnTo>
                  <a:pt x="0" y="8426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28" t="0" r="-33328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25907" y="1659182"/>
            <a:ext cx="10236185" cy="8338518"/>
          </a:xfrm>
          <a:custGeom>
            <a:avLst/>
            <a:gdLst/>
            <a:ahLst/>
            <a:cxnLst/>
            <a:rect r="r" b="b" t="t" l="l"/>
            <a:pathLst>
              <a:path h="8338518" w="10236185">
                <a:moveTo>
                  <a:pt x="0" y="0"/>
                </a:moveTo>
                <a:lnTo>
                  <a:pt x="10236186" y="0"/>
                </a:lnTo>
                <a:lnTo>
                  <a:pt x="10236186" y="8338518"/>
                </a:lnTo>
                <a:lnTo>
                  <a:pt x="0" y="833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53981"/>
            <a:ext cx="14172161" cy="242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75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MATERIALS &amp; METHODS</a:t>
            </a:r>
          </a:p>
          <a:p>
            <a:pPr algn="l">
              <a:lnSpc>
                <a:spcPts val="863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2396" y="2622141"/>
            <a:ext cx="16776173" cy="7255695"/>
          </a:xfrm>
          <a:custGeom>
            <a:avLst/>
            <a:gdLst/>
            <a:ahLst/>
            <a:cxnLst/>
            <a:rect r="r" b="b" t="t" l="l"/>
            <a:pathLst>
              <a:path h="7255695" w="16776173">
                <a:moveTo>
                  <a:pt x="0" y="0"/>
                </a:moveTo>
                <a:lnTo>
                  <a:pt x="16776173" y="0"/>
                </a:lnTo>
                <a:lnTo>
                  <a:pt x="16776173" y="7255695"/>
                </a:lnTo>
                <a:lnTo>
                  <a:pt x="0" y="7255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75895"/>
            <a:ext cx="16408823" cy="250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MATERIALS &amp; METHODS</a:t>
            </a:r>
          </a:p>
          <a:p>
            <a:pPr algn="l">
              <a:lnSpc>
                <a:spcPts val="897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75895"/>
            <a:ext cx="15816765" cy="250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TOOLS &amp; TECHNOLOGIES</a:t>
            </a:r>
          </a:p>
          <a:p>
            <a:pPr algn="l">
              <a:lnSpc>
                <a:spcPts val="897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852475" y="3152300"/>
            <a:ext cx="5017958" cy="1690644"/>
            <a:chOff x="0" y="0"/>
            <a:chExt cx="1321602" cy="445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1602" cy="445272"/>
            </a:xfrm>
            <a:custGeom>
              <a:avLst/>
              <a:gdLst/>
              <a:ahLst/>
              <a:cxnLst/>
              <a:rect r="r" b="b" t="t" l="l"/>
              <a:pathLst>
                <a:path h="445272" w="1321602">
                  <a:moveTo>
                    <a:pt x="154284" y="0"/>
                  </a:moveTo>
                  <a:lnTo>
                    <a:pt x="1167318" y="0"/>
                  </a:lnTo>
                  <a:cubicBezTo>
                    <a:pt x="1252527" y="0"/>
                    <a:pt x="1321602" y="69075"/>
                    <a:pt x="1321602" y="154284"/>
                  </a:cubicBezTo>
                  <a:lnTo>
                    <a:pt x="1321602" y="290988"/>
                  </a:lnTo>
                  <a:cubicBezTo>
                    <a:pt x="1321602" y="376197"/>
                    <a:pt x="1252527" y="445272"/>
                    <a:pt x="1167318" y="445272"/>
                  </a:cubicBezTo>
                  <a:lnTo>
                    <a:pt x="154284" y="445272"/>
                  </a:lnTo>
                  <a:cubicBezTo>
                    <a:pt x="69075" y="445272"/>
                    <a:pt x="0" y="376197"/>
                    <a:pt x="0" y="290988"/>
                  </a:cubicBezTo>
                  <a:lnTo>
                    <a:pt x="0" y="154284"/>
                  </a:lnTo>
                  <a:cubicBezTo>
                    <a:pt x="0" y="69075"/>
                    <a:pt x="69075" y="0"/>
                    <a:pt x="15428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321602" cy="540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85620" y="3323993"/>
            <a:ext cx="5053319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Backend</a:t>
            </a:r>
          </a:p>
          <a:p>
            <a:pPr algn="l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Node</a:t>
            </a: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.js, Express.js</a:t>
            </a:r>
          </a:p>
          <a:p>
            <a:pPr algn="l">
              <a:lnSpc>
                <a:spcPts val="4522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852475" y="5023109"/>
            <a:ext cx="5017958" cy="1870809"/>
            <a:chOff x="0" y="0"/>
            <a:chExt cx="1321602" cy="4927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21602" cy="492723"/>
            </a:xfrm>
            <a:custGeom>
              <a:avLst/>
              <a:gdLst/>
              <a:ahLst/>
              <a:cxnLst/>
              <a:rect r="r" b="b" t="t" l="l"/>
              <a:pathLst>
                <a:path h="492723" w="1321602">
                  <a:moveTo>
                    <a:pt x="154284" y="0"/>
                  </a:moveTo>
                  <a:lnTo>
                    <a:pt x="1167318" y="0"/>
                  </a:lnTo>
                  <a:cubicBezTo>
                    <a:pt x="1252527" y="0"/>
                    <a:pt x="1321602" y="69075"/>
                    <a:pt x="1321602" y="154284"/>
                  </a:cubicBezTo>
                  <a:lnTo>
                    <a:pt x="1321602" y="338439"/>
                  </a:lnTo>
                  <a:cubicBezTo>
                    <a:pt x="1321602" y="423648"/>
                    <a:pt x="1252527" y="492723"/>
                    <a:pt x="1167318" y="492723"/>
                  </a:cubicBezTo>
                  <a:lnTo>
                    <a:pt x="154284" y="492723"/>
                  </a:lnTo>
                  <a:cubicBezTo>
                    <a:pt x="69075" y="492723"/>
                    <a:pt x="0" y="423648"/>
                    <a:pt x="0" y="338439"/>
                  </a:cubicBezTo>
                  <a:lnTo>
                    <a:pt x="0" y="154284"/>
                  </a:lnTo>
                  <a:cubicBezTo>
                    <a:pt x="0" y="69075"/>
                    <a:pt x="69075" y="0"/>
                    <a:pt x="15428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1321602" cy="587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2475" y="7202495"/>
            <a:ext cx="5017958" cy="1875640"/>
            <a:chOff x="0" y="0"/>
            <a:chExt cx="1321602" cy="4939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1602" cy="493996"/>
            </a:xfrm>
            <a:custGeom>
              <a:avLst/>
              <a:gdLst/>
              <a:ahLst/>
              <a:cxnLst/>
              <a:rect r="r" b="b" t="t" l="l"/>
              <a:pathLst>
                <a:path h="493996" w="1321602">
                  <a:moveTo>
                    <a:pt x="154284" y="0"/>
                  </a:moveTo>
                  <a:lnTo>
                    <a:pt x="1167318" y="0"/>
                  </a:lnTo>
                  <a:cubicBezTo>
                    <a:pt x="1252527" y="0"/>
                    <a:pt x="1321602" y="69075"/>
                    <a:pt x="1321602" y="154284"/>
                  </a:cubicBezTo>
                  <a:lnTo>
                    <a:pt x="1321602" y="339711"/>
                  </a:lnTo>
                  <a:cubicBezTo>
                    <a:pt x="1321602" y="424920"/>
                    <a:pt x="1252527" y="493996"/>
                    <a:pt x="1167318" y="493996"/>
                  </a:cubicBezTo>
                  <a:lnTo>
                    <a:pt x="154284" y="493996"/>
                  </a:lnTo>
                  <a:cubicBezTo>
                    <a:pt x="69075" y="493996"/>
                    <a:pt x="0" y="424920"/>
                    <a:pt x="0" y="339711"/>
                  </a:cubicBezTo>
                  <a:lnTo>
                    <a:pt x="0" y="154284"/>
                  </a:lnTo>
                  <a:cubicBezTo>
                    <a:pt x="0" y="69075"/>
                    <a:pt x="69075" y="0"/>
                    <a:pt x="15428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321602" cy="589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58321" y="3152300"/>
            <a:ext cx="4511312" cy="1690644"/>
            <a:chOff x="0" y="0"/>
            <a:chExt cx="1188164" cy="4452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8164" cy="445272"/>
            </a:xfrm>
            <a:custGeom>
              <a:avLst/>
              <a:gdLst/>
              <a:ahLst/>
              <a:cxnLst/>
              <a:rect r="r" b="b" t="t" l="l"/>
              <a:pathLst>
                <a:path h="445272" w="1188164">
                  <a:moveTo>
                    <a:pt x="171611" y="0"/>
                  </a:moveTo>
                  <a:lnTo>
                    <a:pt x="1016553" y="0"/>
                  </a:lnTo>
                  <a:cubicBezTo>
                    <a:pt x="1062067" y="0"/>
                    <a:pt x="1105717" y="18080"/>
                    <a:pt x="1137901" y="50264"/>
                  </a:cubicBezTo>
                  <a:cubicBezTo>
                    <a:pt x="1170084" y="82447"/>
                    <a:pt x="1188164" y="126097"/>
                    <a:pt x="1188164" y="171611"/>
                  </a:cubicBezTo>
                  <a:lnTo>
                    <a:pt x="1188164" y="273661"/>
                  </a:lnTo>
                  <a:cubicBezTo>
                    <a:pt x="1188164" y="368440"/>
                    <a:pt x="1111331" y="445272"/>
                    <a:pt x="1016553" y="445272"/>
                  </a:cubicBezTo>
                  <a:lnTo>
                    <a:pt x="171611" y="445272"/>
                  </a:lnTo>
                  <a:cubicBezTo>
                    <a:pt x="76833" y="445272"/>
                    <a:pt x="0" y="368440"/>
                    <a:pt x="0" y="273661"/>
                  </a:cubicBezTo>
                  <a:lnTo>
                    <a:pt x="0" y="171611"/>
                  </a:lnTo>
                  <a:cubicBezTo>
                    <a:pt x="0" y="126097"/>
                    <a:pt x="18080" y="82447"/>
                    <a:pt x="50264" y="50264"/>
                  </a:cubicBezTo>
                  <a:cubicBezTo>
                    <a:pt x="82447" y="18080"/>
                    <a:pt x="126097" y="0"/>
                    <a:pt x="171611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188164" cy="5405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41057" y="3323993"/>
            <a:ext cx="5053319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Version Control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Git &amp; GitHub</a:t>
            </a:r>
          </a:p>
          <a:p>
            <a:pPr algn="l">
              <a:lnSpc>
                <a:spcPts val="4522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377703" y="5023109"/>
            <a:ext cx="4511312" cy="1870809"/>
            <a:chOff x="0" y="0"/>
            <a:chExt cx="1188164" cy="4927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88164" cy="492723"/>
            </a:xfrm>
            <a:custGeom>
              <a:avLst/>
              <a:gdLst/>
              <a:ahLst/>
              <a:cxnLst/>
              <a:rect r="r" b="b" t="t" l="l"/>
              <a:pathLst>
                <a:path h="492723" w="1188164">
                  <a:moveTo>
                    <a:pt x="171611" y="0"/>
                  </a:moveTo>
                  <a:lnTo>
                    <a:pt x="1016553" y="0"/>
                  </a:lnTo>
                  <a:cubicBezTo>
                    <a:pt x="1062067" y="0"/>
                    <a:pt x="1105717" y="18080"/>
                    <a:pt x="1137901" y="50264"/>
                  </a:cubicBezTo>
                  <a:cubicBezTo>
                    <a:pt x="1170084" y="82447"/>
                    <a:pt x="1188164" y="126097"/>
                    <a:pt x="1188164" y="171611"/>
                  </a:cubicBezTo>
                  <a:lnTo>
                    <a:pt x="1188164" y="321112"/>
                  </a:lnTo>
                  <a:cubicBezTo>
                    <a:pt x="1188164" y="366626"/>
                    <a:pt x="1170084" y="410276"/>
                    <a:pt x="1137901" y="442460"/>
                  </a:cubicBezTo>
                  <a:cubicBezTo>
                    <a:pt x="1105717" y="474643"/>
                    <a:pt x="1062067" y="492723"/>
                    <a:pt x="1016553" y="492723"/>
                  </a:cubicBezTo>
                  <a:lnTo>
                    <a:pt x="171611" y="492723"/>
                  </a:lnTo>
                  <a:cubicBezTo>
                    <a:pt x="76833" y="492723"/>
                    <a:pt x="0" y="415890"/>
                    <a:pt x="0" y="321112"/>
                  </a:cubicBezTo>
                  <a:lnTo>
                    <a:pt x="0" y="171611"/>
                  </a:lnTo>
                  <a:cubicBezTo>
                    <a:pt x="0" y="126097"/>
                    <a:pt x="18080" y="82447"/>
                    <a:pt x="50264" y="50264"/>
                  </a:cubicBezTo>
                  <a:cubicBezTo>
                    <a:pt x="82447" y="18080"/>
                    <a:pt x="126097" y="0"/>
                    <a:pt x="171611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1188164" cy="587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0889014" y="3118962"/>
            <a:ext cx="6370286" cy="5917470"/>
          </a:xfrm>
          <a:custGeom>
            <a:avLst/>
            <a:gdLst/>
            <a:ahLst/>
            <a:cxnLst/>
            <a:rect r="r" b="b" t="t" l="l"/>
            <a:pathLst>
              <a:path h="5917470" w="6370286">
                <a:moveTo>
                  <a:pt x="0" y="0"/>
                </a:moveTo>
                <a:lnTo>
                  <a:pt x="6370286" y="0"/>
                </a:lnTo>
                <a:lnTo>
                  <a:pt x="6370286" y="5917471"/>
                </a:lnTo>
                <a:lnTo>
                  <a:pt x="0" y="5917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85620" y="5322405"/>
            <a:ext cx="5053319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Frontend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</a:t>
            </a: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eact</a:t>
            </a: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.js, HTML/CSS/JS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54592" y="7559185"/>
            <a:ext cx="5053319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Database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Mong</a:t>
            </a: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oDB</a:t>
            </a: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Atlas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141057" y="5194802"/>
            <a:ext cx="5053319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Other</a:t>
            </a:r>
          </a:p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Postman, VS Code</a:t>
            </a:r>
          </a:p>
          <a:p>
            <a:pPr algn="l">
              <a:lnSpc>
                <a:spcPts val="452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23636"/>
            <a:ext cx="12871187" cy="24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EXPECTED RESULTS</a:t>
            </a:r>
          </a:p>
          <a:p>
            <a:pPr algn="l">
              <a:lnSpc>
                <a:spcPts val="897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31043" y="5020223"/>
            <a:ext cx="4446588" cy="13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Tested on a group of lab computers, built to scale to the whole lab.</a:t>
            </a:r>
          </a:p>
          <a:p>
            <a:pPr algn="l">
              <a:lnSpc>
                <a:spcPts val="369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6316"/>
            <a:ext cx="444658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Notifies admin the moment a device is disconnected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6320" y="5020223"/>
            <a:ext cx="4446588" cy="13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Assigns students and computers in a few minutes, not 45+.</a:t>
            </a:r>
          </a:p>
          <a:p>
            <a:pPr algn="l">
              <a:lnSpc>
                <a:spcPts val="369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03978" y="7336316"/>
            <a:ext cx="3867444" cy="13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Shows attendance, active time, and app usage per student.</a:t>
            </a:r>
          </a:p>
          <a:p>
            <a:pPr algn="l">
              <a:lnSpc>
                <a:spcPts val="369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586283" y="5020223"/>
            <a:ext cx="3867444" cy="182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Flags accounts that show activity that doesn't match the student.</a:t>
            </a:r>
          </a:p>
          <a:p>
            <a:pPr algn="l">
              <a:lnSpc>
                <a:spcPts val="369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583941" y="7336316"/>
            <a:ext cx="444658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Brings monitoring, hardware, and reports into a single screen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043" y="4329061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Working prototype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645154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Hardware alerts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806320" y="4329061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Fast exam setup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803978" y="6645154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Usage reports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586283" y="4329061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Login checks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583941" y="6645154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One dashboard</a:t>
            </a:r>
          </a:p>
          <a:p>
            <a:pPr algn="l">
              <a:lnSpc>
                <a:spcPts val="4522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69794" y="3386475"/>
            <a:ext cx="6189506" cy="4123759"/>
          </a:xfrm>
          <a:custGeom>
            <a:avLst/>
            <a:gdLst/>
            <a:ahLst/>
            <a:cxnLst/>
            <a:rect r="r" b="b" t="t" l="l"/>
            <a:pathLst>
              <a:path h="4123759" w="6189506">
                <a:moveTo>
                  <a:pt x="0" y="0"/>
                </a:moveTo>
                <a:lnTo>
                  <a:pt x="6189506" y="0"/>
                </a:lnTo>
                <a:lnTo>
                  <a:pt x="6189506" y="4123758"/>
                </a:lnTo>
                <a:lnTo>
                  <a:pt x="0" y="4123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793586"/>
            <a:ext cx="8359435" cy="24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PROJECT TIMELINE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67726"/>
            <a:ext cx="571612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Research &amp; Design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569300"/>
            <a:ext cx="4958407" cy="10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Study existing systems, plan the database, and design the use cases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916878"/>
            <a:ext cx="5099335" cy="155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Connect all parts and test the full system together.</a:t>
            </a:r>
          </a:p>
          <a:p>
            <a:pPr algn="l">
              <a:lnSpc>
                <a:spcPts val="4223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405641" y="7916878"/>
            <a:ext cx="6103868" cy="155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Write the report and prepare the final submission.</a:t>
            </a:r>
          </a:p>
          <a:p>
            <a:pPr algn="l">
              <a:lnSpc>
                <a:spcPts val="422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619578"/>
            <a:ext cx="5716122" cy="16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Weeks 1–3</a:t>
            </a:r>
          </a:p>
          <a:p>
            <a:pPr algn="l">
              <a:lnSpc>
                <a:spcPts val="4522"/>
              </a:lnSpc>
            </a:pP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405641" y="4659878"/>
            <a:ext cx="5716122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Weeks 4–8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913088"/>
            <a:ext cx="5716122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Weeks 9–10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405641" y="6913088"/>
            <a:ext cx="5716122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Weeks 11–12</a:t>
            </a:r>
          </a:p>
          <a:p>
            <a:pPr algn="l">
              <a:lnSpc>
                <a:spcPts val="452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405641" y="5123673"/>
            <a:ext cx="6103868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Build the System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405641" y="5525247"/>
            <a:ext cx="4429733" cy="101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3"/>
              </a:lnSpc>
            </a:pPr>
            <a:r>
              <a:rPr lang="en-US" sz="23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Develop monitoring, dashboard, backend, and hardware alerts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376883"/>
            <a:ext cx="5376941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Testing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405641" y="7376883"/>
            <a:ext cx="6103868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Wrap Up</a:t>
            </a:r>
          </a:p>
          <a:p>
            <a:pPr algn="l">
              <a:lnSpc>
                <a:spcPts val="43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05314" y="857250"/>
            <a:ext cx="18430639" cy="24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REFERENCES &amp; GITHUB REPOSITORY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562947" y="2667541"/>
            <a:ext cx="4671873" cy="6590759"/>
            <a:chOff x="0" y="0"/>
            <a:chExt cx="903772" cy="1274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3772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3772">
                  <a:moveTo>
                    <a:pt x="0" y="0"/>
                  </a:moveTo>
                  <a:lnTo>
                    <a:pt x="903772" y="0"/>
                  </a:lnTo>
                  <a:lnTo>
                    <a:pt x="90377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55871" t="0" r="-5587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599749"/>
            <a:ext cx="809013" cy="809013"/>
          </a:xfrm>
          <a:custGeom>
            <a:avLst/>
            <a:gdLst/>
            <a:ahLst/>
            <a:cxnLst/>
            <a:rect r="r" b="b" t="t" l="l"/>
            <a:pathLst>
              <a:path h="809013" w="809013">
                <a:moveTo>
                  <a:pt x="0" y="0"/>
                </a:moveTo>
                <a:lnTo>
                  <a:pt x="809013" y="0"/>
                </a:lnTo>
                <a:lnTo>
                  <a:pt x="809013" y="809013"/>
                </a:lnTo>
                <a:lnTo>
                  <a:pt x="0" y="8090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54363" y="3466399"/>
            <a:ext cx="8891934" cy="216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Repository:  </a:t>
            </a:r>
          </a:p>
          <a:p>
            <a:pPr algn="l">
              <a:lnSpc>
                <a:spcPts val="4399"/>
              </a:lnSpc>
            </a:pPr>
            <a:r>
              <a:rPr lang="en-US" sz="2499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4" tooltip="https://github.com/RaneemaRisnee/SmartLab-Guardian"/>
              </a:rPr>
              <a:t>https://github.com/RaneemaRisnee/SmartLab-Guardian</a:t>
            </a: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 </a:t>
            </a:r>
          </a:p>
          <a:p>
            <a:pPr algn="l">
              <a:lnSpc>
                <a:spcPts val="4399"/>
              </a:lnSpc>
            </a:pPr>
            <a:r>
              <a:rPr lang="en-US" sz="24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</a:p>
          <a:p>
            <a:pPr algn="l">
              <a:lnSpc>
                <a:spcPts val="43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046038" y="4865478"/>
            <a:ext cx="9308584" cy="659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2"/>
              </a:lnSpc>
            </a:pPr>
            <a:r>
              <a:rPr lang="en-US" sz="2617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References:  </a:t>
            </a:r>
          </a:p>
          <a:p>
            <a:pPr algn="just">
              <a:lnSpc>
                <a:spcPts val="4422"/>
              </a:lnSpc>
            </a:pP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5" tooltip="https://classroomspy.com/%202.%20Python%20socket%20network%20programming%20-%20Yasoob%20Khalid"/>
              </a:rPr>
              <a:t>1.https://classroomspy.com/ </a:t>
            </a:r>
          </a:p>
          <a:p>
            <a:pPr algn="just">
              <a:lnSpc>
                <a:spcPts val="4422"/>
              </a:lnSpc>
            </a:pPr>
          </a:p>
          <a:p>
            <a:pPr algn="just">
              <a:lnSpc>
                <a:spcPts val="4422"/>
              </a:lnSpc>
            </a:pP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6" tooltip="https://classroomspy.com/%202.%20Python%20socket%20network%20programming%20-%20Yasoob%20Khalid"/>
              </a:rPr>
              <a:t>2. </a:t>
            </a: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7" tooltip="https://yasoob.me/2013/08/06/python-socket-network-programming/"/>
              </a:rPr>
              <a:t>Python socket network programming - Yasoob Khalid</a:t>
            </a: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8" tooltip="https://classroomspy.com/%202.%20Python%20socket%20network%20programming%20-%20Yasoob%20Khalid"/>
              </a:rPr>
              <a:t> </a:t>
            </a:r>
          </a:p>
          <a:p>
            <a:pPr algn="just">
              <a:lnSpc>
                <a:spcPts val="4422"/>
              </a:lnSpc>
            </a:pPr>
          </a:p>
          <a:p>
            <a:pPr algn="just">
              <a:lnSpc>
                <a:spcPts val="4422"/>
              </a:lnSpc>
            </a:pP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9" tooltip="https://classroomspy.com/%202.%20Python%20socket%20network%20programming%20-%20Yasoob%20Khalid"/>
              </a:rPr>
              <a:t>3.</a:t>
            </a: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10" tooltip="https://medium.com/@CHICHEEE/build-a-simple-file-transfer-system-using-python-network-programming-project-c9962cf238c0"/>
              </a:rPr>
              <a:t>Build a Simple File Transfer System Using Python (Network Programming Project) | by Nathan Chiche | Medium</a:t>
            </a: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11" tooltip="https://classroomspy.com/%202.%20Python%20socket%20network%20programming%20-%20Yasoob%20Khalid"/>
              </a:rPr>
              <a:t> </a:t>
            </a:r>
          </a:p>
          <a:p>
            <a:pPr algn="just">
              <a:lnSpc>
                <a:spcPts val="4422"/>
              </a:lnSpc>
            </a:pPr>
          </a:p>
          <a:p>
            <a:pPr algn="just">
              <a:lnSpc>
                <a:spcPts val="4422"/>
              </a:lnSpc>
            </a:pP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12" tooltip="https://classroomspy.com/%202.%20Python%20socket%20network%20programming%20-%20Yasoob%20Khalid"/>
              </a:rPr>
              <a:t>4.</a:t>
            </a: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13" tooltip="https://fullscale.io/blog/how-to-choose-tech-stack/"/>
              </a:rPr>
              <a:t>How to Choose a Tech Stack in the AI Era - Full Scale</a:t>
            </a:r>
            <a:r>
              <a:rPr lang="en-US" sz="2617" u="sng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14" tooltip="https://classroomspy.com/%202.%20Python%20socket%20network%20programming%20-%20Yasoob%20Khalid"/>
              </a:rPr>
              <a:t>  </a:t>
            </a:r>
          </a:p>
          <a:p>
            <a:pPr algn="just">
              <a:lnSpc>
                <a:spcPts val="4422"/>
              </a:lnSpc>
            </a:pPr>
          </a:p>
          <a:p>
            <a:pPr algn="just">
              <a:lnSpc>
                <a:spcPts val="4422"/>
              </a:lnSpc>
            </a:pPr>
          </a:p>
          <a:p>
            <a:pPr algn="l">
              <a:lnSpc>
                <a:spcPts val="442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CE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34337"/>
            <a:ext cx="10208996" cy="18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676387"/>
            <a:ext cx="4786930" cy="838151"/>
            <a:chOff x="0" y="0"/>
            <a:chExt cx="1260755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0755" cy="220747"/>
            </a:xfrm>
            <a:custGeom>
              <a:avLst/>
              <a:gdLst/>
              <a:ahLst/>
              <a:cxnLst/>
              <a:rect r="r" b="b" t="t" l="l"/>
              <a:pathLst>
                <a:path h="220747" w="1260755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260755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29385" y="5783229"/>
            <a:ext cx="4185559" cy="557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Question &amp; Awnsers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699209"/>
            <a:ext cx="15758830" cy="113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SmartLab Guardian — Group 05 • IT3162 Group Project •University of Vavuniya</a:t>
            </a:r>
          </a:p>
          <a:p>
            <a:pPr algn="l">
              <a:lnSpc>
                <a:spcPts val="454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DAHTNTjB0aQ</dc:identifier>
  <dcterms:modified xsi:type="dcterms:W3CDTF">2011-08-01T06:04:30Z</dcterms:modified>
  <cp:revision>1</cp:revision>
  <dc:title>Project Proposal</dc:title>
</cp:coreProperties>
</file>